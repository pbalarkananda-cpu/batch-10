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6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7.xml" ContentType="application/vnd.openxmlformats-officedocument.presentationml.notesSlide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8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9.xml" ContentType="application/vnd.openxmlformats-officedocument.presentationml.notesSlide+xml"/>
  <Override PartName="/ppt/ink/ink19.xml" ContentType="application/inkml+xml"/>
  <Override PartName="/ppt/ink/ink20.xml" ContentType="application/inkml+xml"/>
  <Override PartName="/ppt/notesSlides/notesSlide10.xml" ContentType="application/vnd.openxmlformats-officedocument.presentationml.notesSlide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Arimo" panose="020B0604020202020204" charset="0"/>
      <p:regular r:id="rId14"/>
    </p:embeddedFont>
    <p:embeddedFont>
      <p:font typeface="Arimo Bold" panose="020B0604020202020204" charset="0"/>
      <p:regular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Noto Sans Extra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7:50.561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0 24487,'2542'0'0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7:56.197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0 252 24575,'1269'0'0,"-1220"-3"0,0-2 0,-1-2 0,0-3 0,60-20 0,-57 16 0,-33 11 0,0 0 0,0 1 0,35 0 0,-34 2 0,0-1 0,0 0 0,25-6 0,17-7 0,65-19 0,-100 27 0,1 0 0,-1 2 0,2 1 0,31 0 0,51-6 0,46-23 0,-117 23 133,-18 5-433,0-1 1,0-2-1,0 0 1,29-15-1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8:14.202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26 24515,'2437'0'0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8:19.305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78 24455,'2566'-77'0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41:19.113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1 0 24515,'2644'0'0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41:25.280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0 103 24427,'2437'-103'0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8:35.024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82 24575,'549'0'0,"-526"1"0,0 1 0,31 7 0,-27-4 0,35 3 0,409-5 0,-242-6 0,-187 2 0,55-11 0,-54 6 0,52-1 0,-60 4 0,62-11 0,-50 5 0,9-2 0,-35 6 0,0 1 0,36-2 0,-43 6 0,16-1 0,0 0 0,0-2 0,32-7 0,-41 6 86,0 0-1,0 1 0,27 1 1,-38 2-257,0 0 0,0 1 1,-1 0-1,1 1 0,0 0 1,-1 0-1,1 1 0,-1 0 1,10 6-1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8:40.953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0 24575,'8'1'0,"-1"0"0,1 0 0,-1 0 0,1 1 0,10 4 0,9 3 0,538 147 0,-537-148 0,0-1 0,0-2 0,47 4 0,85-7 0,-114-2 0,-19 1 0,0 1 0,30 7 0,38 4 0,22-13 0,160-20 0,-98 13 0,-111-5 0,-48 8 0,36-4 0,390 5 0,-229 6 0,-171-3-1365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9:00.847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1 3 24575,'177'-2'0,"190"4"0,-321 3 0,59 14 0,29 4 0,-74-18 0,-1-3 0,1-2 0,0-3 0,67-12 0,-70 4 0,-12 2 0,1 1 0,58-1 0,514 8 0,-277 3 0,-325-1-273,0 0 0,-1 1 0,1 1 0,15 5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9:05.791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0 130 24489,'2436'-129'0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9:09.286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5 24575,'469'0'0,"-463"0"94,-3 0-227,-1 0 0,1 0 1,-1 0-1,1 0 1,-1 0-1,0-1 0,1 1 1,-1-1-1,0 1 1,5-3-1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9:21.329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0 132 24575,'760'-45'0,"-592"30"0,170-24 0,-129 13 0,-112 19 0,117 8 0,-80 1 0,-4-4 0,145 5 0,-156 9 0,34 1 0,-98-9 0,63 11 0,-107-14 0,12 2-1365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9:26.217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1 1 24575,'535'33'0,"-500"-29"0,118 13 0,-52-4 0,120-1 0,-199-10 0,0 0 0,1 1 0,-1 1 0,25 9 0,-18-5 0,46 6 0,-12-9 0,74 11 0,-108-12 0,1-1 0,-1-1 0,1-1 0,0-2 0,-1-1 0,1-2 0,-1-1 0,0-1 0,37-12 0,-44 13 0,0 0 0,0 2 0,33-1 0,-32 3 0,0 0 0,-1-2 0,34-9 0,-10 1 0,1 2 0,84-6 0,-108 13 0,47-9 0,-50 6 0,0 2 0,25-2 0,-20 5-1365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9:37.512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0 24536,'2567'156'0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9:43.371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0 156 24534,'2203'-156'0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39:55.622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1 1 24380,'1166'51'0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40:07.980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1 79 24575,'400'-27'0,"-36"0"0,-327 25 0,44-9 0,-53 6 0,-1 2 0,1 0 0,45 3 0,-64 1 0,-1 1 0,0 0 0,0 1 0,0 0 0,0 0 0,-1 1 0,1 0 0,-1 0 0,0 1 0,0 0 0,0 0 0,-1 0 0,1 1 0,-1 0 0,-1 0 0,9 12 0,2 1 0,1-1 0,25 21 0,-32-31 0,1 0 0,0 0 0,0-1 0,0 0 0,1-1 0,0 0 0,1-1 0,-1-1 0,1 0 0,17 4 0,-21-7 0,1 1 0,0-1 0,0-1 0,0 0 0,0 0 0,-1-1 0,1 0 0,0-1 0,-1 0 0,1-1 0,-1 0 0,1 0 0,-1-1 0,13-7 0,-9 4 0,0 0 0,0 0 0,1 2 0,0-1 0,0 2 0,0 0 0,0 1 0,1 0 0,-1 1 0,1 0 0,28 2 0,392 3 0,-409-2 0,0 1 0,30 8 0,-27-5 0,43 3 0,-31-8 152,-29-1-304,0 0 0,0 1 1,0 1-1,-1 0 0,1 1 1,0 0-1,0 0 0,-1 2 1,18 6-1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40:12.909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1 78 24539,'2461'-77'0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40:25.477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0 24552,'2515'52'0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40:29.167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1 26 24491,'2540'-26'0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40:41.244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0 24534,'2463'104'0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7T04:40:45.115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0 130 24520,'2385'-129'0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3:34.968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654 135 24575,'-13'0'0,"-18"-4"0,-12-2 0,-13 1 0,-9-4 0,-2 0 0,0-3 0,0-4 0,5 1 0,10-2 0,10 3 0,6 3 0,6 3 0,7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3:37.251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1893 0 23892,'-1892'0'0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3:40.123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1 1 24575,'147'13'0,"-17"-1"0,223-10 0,-181-3 0,-140 2 0,54 10 0,19 2 0,514-10 0,-318-5 0,237 2-1365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31T08:13:41.972"/>
    </inkml:context>
    <inkml:brush xml:id="br0">
      <inkml:brushProperty name="width" value="0.35" units="cm"/>
      <inkml:brushProperty name="height" value="0.35" units="cm"/>
      <inkml:brushProperty name="color" value="#F5F5F5"/>
    </inkml:brush>
  </inkml:definitions>
  <inkml:trace contextRef="#ctx0" brushRef="#br0">798 58 24575,'-5'1'0,"1"0"0,-1 0 0,1 1 0,0 0 0,0 0 0,0 0 0,-4 3 0,-9 3 0,8-4 0,-1-1 0,0 0 0,0-1 0,0 0 0,0-1 0,0 0 0,0-1 0,-1 1 0,-12-3 0,-14-3 0,-45-11 0,18 2 0,-35-12 0,66 16 0,-38-6 0,45 13 113,0 2-1,-36 2 0,39 0-537,1-1-1,-1 0 1,-39-7-1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2432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3.xml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.xml"/><Relationship Id="rId11" Type="http://schemas.openxmlformats.org/officeDocument/2006/relationships/image" Target="../media/image5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svg"/><Relationship Id="rId9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7.xml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customXml" Target="../ink/ink11.xml"/><Relationship Id="rId3" Type="http://schemas.openxmlformats.org/officeDocument/2006/relationships/image" Target="../media/image9.svg"/><Relationship Id="rId7" Type="http://schemas.openxmlformats.org/officeDocument/2006/relationships/image" Target="../media/image13.sv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11" Type="http://schemas.openxmlformats.org/officeDocument/2006/relationships/customXml" Target="../ink/ink10.xml"/><Relationship Id="rId5" Type="http://schemas.openxmlformats.org/officeDocument/2006/relationships/image" Target="../media/image11.svg"/><Relationship Id="rId15" Type="http://schemas.openxmlformats.org/officeDocument/2006/relationships/image" Target="../media/image5.png"/><Relationship Id="rId10" Type="http://schemas.openxmlformats.org/officeDocument/2006/relationships/image" Target="../media/image23.png"/><Relationship Id="rId4" Type="http://schemas.openxmlformats.org/officeDocument/2006/relationships/image" Target="../media/image10.svg"/><Relationship Id="rId9" Type="http://schemas.openxmlformats.org/officeDocument/2006/relationships/customXml" Target="../ink/ink9.xml"/><Relationship Id="rId1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7.png"/><Relationship Id="rId7" Type="http://schemas.openxmlformats.org/officeDocument/2006/relationships/customXml" Target="../ink/ink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4" Type="http://schemas.openxmlformats.org/officeDocument/2006/relationships/customXml" Target="../ink/ink12.xml"/><Relationship Id="rId9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5.png"/><Relationship Id="rId3" Type="http://schemas.openxmlformats.org/officeDocument/2006/relationships/image" Target="../media/image18.png"/><Relationship Id="rId7" Type="http://schemas.openxmlformats.org/officeDocument/2006/relationships/customXml" Target="../ink/ink14.xml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customXml" Target="../ink/ink16.xml"/><Relationship Id="rId5" Type="http://schemas.openxmlformats.org/officeDocument/2006/relationships/image" Target="../media/image20.png"/><Relationship Id="rId10" Type="http://schemas.openxmlformats.org/officeDocument/2006/relationships/image" Target="../media/image35.png"/><Relationship Id="rId4" Type="http://schemas.openxmlformats.org/officeDocument/2006/relationships/image" Target="../media/image19.png"/><Relationship Id="rId9" Type="http://schemas.openxmlformats.org/officeDocument/2006/relationships/customXml" Target="../ink/ink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2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.xml"/><Relationship Id="rId5" Type="http://schemas.openxmlformats.org/officeDocument/2006/relationships/image" Target="../media/image38.png"/><Relationship Id="rId4" Type="http://schemas.openxmlformats.org/officeDocument/2006/relationships/customXml" Target="../ink/ink1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customXml" Target="../ink/ink19.xml"/><Relationship Id="rId7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5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21.xml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44.png"/><Relationship Id="rId9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6.xml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5.xml"/><Relationship Id="rId5" Type="http://schemas.openxmlformats.org/officeDocument/2006/relationships/image" Target="../media/image30.png"/><Relationship Id="rId10" Type="http://schemas.openxmlformats.org/officeDocument/2006/relationships/image" Target="../media/image5.png"/><Relationship Id="rId4" Type="http://schemas.openxmlformats.org/officeDocument/2006/relationships/customXml" Target="../ink/ink24.xml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61474" y="1948483"/>
            <a:ext cx="10868745" cy="2079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400" b="1" dirty="0">
                <a:solidFill>
                  <a:srgbClr val="192A47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 System Toolkit</a:t>
            </a:r>
            <a:endParaRPr lang="en-US" sz="7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232425" y="4047331"/>
            <a:ext cx="11478330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45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C++ Project | Academic Year 2026–27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447962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192A47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61475" y="4953893"/>
            <a:ext cx="5203794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850" dirty="0">
                <a:solidFill>
                  <a:srgbClr val="1F293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Team Members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61474" y="5402759"/>
            <a:ext cx="5310117" cy="1042689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92000"/>
              </a:lnSpc>
              <a:buSzPct val="100000"/>
              <a:buChar char="•"/>
            </a:pPr>
            <a:r>
              <a:rPr lang="en-US" sz="145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P. Nikhil               — Roll No: 25B11AI913</a:t>
            </a:r>
            <a:endParaRPr lang="en-US" sz="1450" dirty="0"/>
          </a:p>
          <a:p>
            <a:pPr marL="294640" indent="-294640" algn="l">
              <a:lnSpc>
                <a:spcPct val="92000"/>
              </a:lnSpc>
              <a:buSzPct val="100000"/>
              <a:buChar char="•"/>
            </a:pPr>
            <a:r>
              <a:rPr lang="en-US" sz="145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P. Balarkananda — Roll No: 25B11AI876</a:t>
            </a:r>
            <a:endParaRPr lang="en-US" sz="1450" dirty="0"/>
          </a:p>
          <a:p>
            <a:pPr marL="294640" indent="-294640" algn="l">
              <a:lnSpc>
                <a:spcPct val="92000"/>
              </a:lnSpc>
              <a:buSzPct val="100000"/>
              <a:buChar char="•"/>
            </a:pPr>
            <a:r>
              <a:rPr lang="en-US" sz="145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R. Teja                — Roll No: 25B11AIA23</a:t>
            </a:r>
          </a:p>
          <a:p>
            <a:pPr marL="294640" indent="-294640">
              <a:lnSpc>
                <a:spcPct val="92000"/>
              </a:lnSpc>
              <a:buSzPct val="100000"/>
              <a:buChar char="•"/>
            </a:pPr>
            <a:r>
              <a:rPr lang="en-US" sz="145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V. Veerendra      — Roll No: 26B21AI126</a:t>
            </a:r>
          </a:p>
          <a:p>
            <a:pPr marL="294640" indent="-294640" algn="l">
              <a:lnSpc>
                <a:spcPct val="92000"/>
              </a:lnSpc>
              <a:buSzPct val="100000"/>
              <a:buChar char="•"/>
            </a:pP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32776" y="4953893"/>
            <a:ext cx="5203794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850" dirty="0">
                <a:solidFill>
                  <a:srgbClr val="1F293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Guided By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32776" y="5402759"/>
            <a:ext cx="5498440" cy="799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600" b="1" u="sng" dirty="0"/>
              <a:t>T. VIJAYA LAKSHMI Madam</a:t>
            </a:r>
          </a:p>
          <a:p>
            <a:pPr marL="0" indent="0" algn="ctr">
              <a:lnSpc>
                <a:spcPct val="92000"/>
              </a:lnSpc>
              <a:buNone/>
            </a:pPr>
            <a:endParaRPr lang="en-US" sz="1600" b="1" u="sng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600" b="1" u="sng" dirty="0"/>
              <a:t>(M-TECH)</a:t>
            </a:r>
          </a:p>
          <a:p>
            <a:pPr marL="0" indent="0" algn="ctr">
              <a:lnSpc>
                <a:spcPct val="92000"/>
              </a:lnSpc>
              <a:buNone/>
            </a:pPr>
            <a:endParaRPr lang="en-US" b="1" u="sng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450" b="1" i="1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Department of Artificial Intelligence &amp; Machine Learning</a:t>
            </a:r>
            <a:endParaRPr lang="en-US" sz="1450" b="1" i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8A1E16F-DCD4-DA09-BC15-7722990653BE}"/>
                  </a:ext>
                </a:extLst>
              </p14:cNvPr>
              <p14:cNvContentPartPr/>
              <p14:nvPr/>
            </p14:nvContentPartPr>
            <p14:xfrm>
              <a:off x="11103032" y="6643190"/>
              <a:ext cx="915480" cy="7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8A1E16F-DCD4-DA09-BC15-7722990653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040032" y="6517190"/>
                <a:ext cx="10411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09645BB-73F6-AAAA-FF41-5CC2AD8B9093}"/>
                  </a:ext>
                </a:extLst>
              </p14:cNvPr>
              <p14:cNvContentPartPr/>
              <p14:nvPr/>
            </p14:nvContentPartPr>
            <p14:xfrm>
              <a:off x="11112752" y="6683150"/>
              <a:ext cx="944280" cy="910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09645BB-73F6-AAAA-FF41-5CC2AD8B909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49752" y="6620150"/>
                <a:ext cx="1069920" cy="216720"/>
              </a:xfrm>
              <a:prstGeom prst="rect">
                <a:avLst/>
              </a:prstGeom>
            </p:spPr>
          </p:pic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id="{A47EC4B1-CEAF-9AC9-42A3-79F94D9508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716" y="656210"/>
            <a:ext cx="5439747" cy="7045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61475" y="1495738"/>
            <a:ext cx="789563" cy="287139"/>
          </a:xfrm>
          <a:prstGeom prst="roundRect">
            <a:avLst>
              <a:gd name="adj" fmla="val 22118"/>
            </a:avLst>
          </a:prstGeom>
          <a:solidFill>
            <a:srgbClr val="D0E1FB"/>
          </a:solidFill>
          <a:ln/>
        </p:spPr>
      </p:sp>
      <p:sp>
        <p:nvSpPr>
          <p:cNvPr id="4" name="Text 1"/>
          <p:cNvSpPr/>
          <p:nvPr/>
        </p:nvSpPr>
        <p:spPr>
          <a:xfrm>
            <a:off x="774879" y="1552391"/>
            <a:ext cx="11723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2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4" y="1920953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70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Project Abstract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3" y="2629265"/>
            <a:ext cx="10973800" cy="2996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</a:t>
            </a:r>
            <a:r>
              <a:rPr lang="en-US" sz="2000" b="1" dirty="0">
                <a:solidFill>
                  <a:srgbClr val="192A47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Number System Toolkit</a:t>
            </a:r>
            <a:r>
              <a:rPr lang="en-US" sz="20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is a console-based C++ application designed to facilitate seamless conversion of numerical values across the four primary number systems — </a:t>
            </a:r>
            <a:r>
              <a:rPr lang="en-US" sz="2000" b="1" dirty="0">
                <a:solidFill>
                  <a:srgbClr val="192A47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binary, octal, decimal, and hexadecimal</a:t>
            </a:r>
            <a:r>
              <a:rPr lang="en-US" sz="20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that form the foundation of modern computing. The application provides an intuitive menu-driven interface that enables users to select a source base, specify a target base, and instantly obtain accurate conversions without manual computation. Beyond conversion, the toolkit implements core </a:t>
            </a:r>
            <a:r>
              <a:rPr lang="en-US" sz="2000" b="1" dirty="0">
                <a:solidFill>
                  <a:srgbClr val="192A47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arithmetic operations</a:t>
            </a:r>
            <a:r>
              <a:rPr lang="en-US" sz="20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addition, subtraction, and multiplication — directly across different number bases, extending its utility well beyond a simple converter. As an educational and utility tool, it serves both </a:t>
            </a:r>
            <a:r>
              <a:rPr lang="en-US" sz="2000" b="1" dirty="0">
                <a:solidFill>
                  <a:srgbClr val="192A47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students learning computer architecture</a:t>
            </a:r>
            <a:r>
              <a:rPr lang="en-US" sz="20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and </a:t>
            </a:r>
            <a:r>
              <a:rPr lang="en-US" sz="2000" b="1" dirty="0">
                <a:solidFill>
                  <a:srgbClr val="192A47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programmers</a:t>
            </a:r>
            <a:r>
              <a:rPr lang="en-US" sz="20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working with low-level systems, embedded hardware, or networking protocols where multi-base literacy is essential. The project is implemented using fundamental C++ constructs including functions, loops, conditionals, and switch-case structures, making it an ideal demonstration of applied programming concepts.</a:t>
            </a:r>
            <a:endParaRPr lang="en-US" sz="2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5DCC6AE-189D-33E4-626C-40EC42EBAD28}"/>
                  </a:ext>
                </a:extLst>
              </p14:cNvPr>
              <p14:cNvContentPartPr/>
              <p14:nvPr/>
            </p14:nvContentPartPr>
            <p14:xfrm>
              <a:off x="11149832" y="6633830"/>
              <a:ext cx="877680" cy="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5DCC6AE-189D-33E4-626C-40EC42EBAD2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86832" y="6507830"/>
                <a:ext cx="100332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3FB254A-9137-B9A4-D50D-FF900C50B8D2}"/>
                  </a:ext>
                </a:extLst>
              </p14:cNvPr>
              <p14:cNvContentPartPr/>
              <p14:nvPr/>
            </p14:nvContentPartPr>
            <p14:xfrm>
              <a:off x="11140472" y="6708350"/>
              <a:ext cx="924120" cy="284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3FB254A-9137-B9A4-D50D-FF900C50B8D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77472" y="6645710"/>
                <a:ext cx="1049760" cy="154080"/>
              </a:xfrm>
              <a:prstGeom prst="rect">
                <a:avLst/>
              </a:prstGeom>
            </p:spPr>
          </p:pic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32406A9-5335-968D-980A-0D2CE4CA08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1852" y="307618"/>
            <a:ext cx="2455660" cy="3180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924132" y="627856"/>
            <a:ext cx="749976" cy="272752"/>
          </a:xfrm>
          <a:prstGeom prst="roundRect">
            <a:avLst>
              <a:gd name="adj" fmla="val 22121"/>
            </a:avLst>
          </a:prstGeom>
          <a:solidFill>
            <a:srgbClr val="D0E1FB"/>
          </a:solidFill>
          <a:ln/>
        </p:spPr>
      </p:sp>
      <p:sp>
        <p:nvSpPr>
          <p:cNvPr id="4" name="Text 1"/>
          <p:cNvSpPr/>
          <p:nvPr/>
        </p:nvSpPr>
        <p:spPr>
          <a:xfrm>
            <a:off x="1030267" y="682130"/>
            <a:ext cx="1144261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921718" y="1032668"/>
            <a:ext cx="6296860" cy="493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50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Problem Statement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909972" y="1674614"/>
            <a:ext cx="6296860" cy="770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Manual conversion between number systems is a </a:t>
            </a:r>
            <a:r>
              <a:rPr lang="en-US" sz="1400" b="1" dirty="0">
                <a:solidFill>
                  <a:srgbClr val="192A47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time-consuming and error-prone</a:t>
            </a: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process, particularly in domains such as computer science education, digital electronics, networking, and memory addressing — where rapid multi-base arithmetic is a daily necessity.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47612" y="2495538"/>
            <a:ext cx="1985218" cy="3657005"/>
          </a:xfrm>
          <a:prstGeom prst="roundRect">
            <a:avLst>
              <a:gd name="adj" fmla="val 3799"/>
            </a:avLst>
          </a:prstGeom>
          <a:solidFill>
            <a:srgbClr val="E5EEFB"/>
          </a:solidFill>
          <a:ln w="6350">
            <a:solidFill>
              <a:srgbClr val="B6C7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85546" y="2714128"/>
            <a:ext cx="538645" cy="538659"/>
          </a:xfrm>
          <a:prstGeom prst="ellipse">
            <a:avLst/>
          </a:prstGeom>
          <a:solidFill>
            <a:srgbClr val="0D47A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33675" y="2861228"/>
            <a:ext cx="242385" cy="24239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85546" y="3311155"/>
            <a:ext cx="1613554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Manual Conversion Delays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3444" y="4172248"/>
            <a:ext cx="1613554" cy="1733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Students and developers waste significant time performing step-by-step base conversions by hand, increasing risk of arithmetic mistakes.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806177" y="2495538"/>
            <a:ext cx="1985218" cy="3657005"/>
          </a:xfrm>
          <a:prstGeom prst="roundRect">
            <a:avLst>
              <a:gd name="adj" fmla="val 3799"/>
            </a:avLst>
          </a:prstGeom>
          <a:solidFill>
            <a:srgbClr val="E5EEFB"/>
          </a:solidFill>
          <a:ln w="6350">
            <a:solidFill>
              <a:srgbClr val="B6C7E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058402" y="2691556"/>
            <a:ext cx="538645" cy="538659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06531" y="2867084"/>
            <a:ext cx="242385" cy="24239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001485" y="3269922"/>
            <a:ext cx="1613554" cy="740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Low-Level Programming Needs</a:t>
            </a:r>
            <a:endParaRPr lang="en-US" sz="1750" dirty="0"/>
          </a:p>
        </p:txBody>
      </p:sp>
      <p:sp>
        <p:nvSpPr>
          <p:cNvPr id="16" name="Text 11"/>
          <p:cNvSpPr/>
          <p:nvPr/>
        </p:nvSpPr>
        <p:spPr>
          <a:xfrm>
            <a:off x="4001485" y="4117975"/>
            <a:ext cx="1613554" cy="1540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Fields like digital electronics and memory addressing demand constant switching between binary, octal, decimal, and hex representations.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6541548" y="2495538"/>
            <a:ext cx="1985318" cy="3657005"/>
          </a:xfrm>
          <a:prstGeom prst="roundRect">
            <a:avLst>
              <a:gd name="adj" fmla="val 3799"/>
            </a:avLst>
          </a:prstGeom>
          <a:solidFill>
            <a:srgbClr val="E5EEFB"/>
          </a:solidFill>
          <a:ln w="6350">
            <a:solidFill>
              <a:srgbClr val="B6C7E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74071" y="2703764"/>
            <a:ext cx="538645" cy="538659"/>
          </a:xfrm>
          <a:prstGeom prst="ellipse">
            <a:avLst/>
          </a:prstGeom>
          <a:solidFill>
            <a:srgbClr val="0D47A1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22200" y="2867084"/>
            <a:ext cx="242385" cy="24239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64742" y="3311155"/>
            <a:ext cx="1613653" cy="493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No Unified Tool</a:t>
            </a:r>
            <a:endParaRPr lang="en-US" sz="1750" dirty="0"/>
          </a:p>
        </p:txBody>
      </p:sp>
      <p:sp>
        <p:nvSpPr>
          <p:cNvPr id="21" name="Text 15"/>
          <p:cNvSpPr/>
          <p:nvPr/>
        </p:nvSpPr>
        <p:spPr>
          <a:xfrm>
            <a:off x="6764741" y="4021683"/>
            <a:ext cx="1613653" cy="1733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single, fast, offline console utility exists that combines conversion </a:t>
            </a:r>
            <a:r>
              <a:rPr lang="en-US" sz="1400" i="1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and</a:t>
            </a: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cross-base arithmetic in a beginner-friendly C++ environment.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169996E-1827-86D2-CA78-C8E3776DE9CB}"/>
                  </a:ext>
                </a:extLst>
              </p14:cNvPr>
              <p14:cNvContentPartPr/>
              <p14:nvPr/>
            </p14:nvContentPartPr>
            <p14:xfrm>
              <a:off x="11131112" y="6643190"/>
              <a:ext cx="952200" cy="7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169996E-1827-86D2-CA78-C8E3776DE9C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68472" y="6517190"/>
                <a:ext cx="107784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32AA005-0C3C-DF91-C4AD-D6C2CB86A03E}"/>
                  </a:ext>
                </a:extLst>
              </p14:cNvPr>
              <p14:cNvContentPartPr/>
              <p14:nvPr/>
            </p14:nvContentPartPr>
            <p14:xfrm>
              <a:off x="11168552" y="6699350"/>
              <a:ext cx="877680" cy="374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32AA005-0C3C-DF91-C4AD-D6C2CB86A03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105552" y="6636350"/>
                <a:ext cx="1003320" cy="163080"/>
              </a:xfrm>
              <a:prstGeom prst="rect">
                <a:avLst/>
              </a:prstGeom>
            </p:spPr>
          </p:pic>
        </mc:Fallback>
      </mc:AlternateContent>
      <p:pic>
        <p:nvPicPr>
          <p:cNvPr id="24" name="Picture 23">
            <a:extLst>
              <a:ext uri="{FF2B5EF4-FFF2-40B4-BE49-F238E27FC236}">
                <a16:creationId xmlns:a16="http://schemas.microsoft.com/office/drawing/2014/main" id="{52354A0F-2B07-B8CA-A39F-9A46C622EF5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71852" y="307618"/>
            <a:ext cx="2455660" cy="31806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70057" y="906469"/>
            <a:ext cx="592420" cy="215305"/>
          </a:xfrm>
          <a:prstGeom prst="roundRect">
            <a:avLst>
              <a:gd name="adj" fmla="val 22123"/>
            </a:avLst>
          </a:prstGeom>
          <a:solidFill>
            <a:srgbClr val="D0E1FB"/>
          </a:solidFill>
          <a:ln/>
        </p:spPr>
      </p:sp>
      <p:sp>
        <p:nvSpPr>
          <p:cNvPr id="4" name="Text 1"/>
          <p:cNvSpPr/>
          <p:nvPr/>
        </p:nvSpPr>
        <p:spPr>
          <a:xfrm>
            <a:off x="714605" y="963537"/>
            <a:ext cx="103194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4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1481194"/>
            <a:ext cx="10868745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Objectives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661475" y="2215793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5EEFB"/>
          </a:solidFill>
          <a:ln w="6350">
            <a:solidFill>
              <a:srgbClr val="B6C7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4605" y="2258308"/>
            <a:ext cx="212620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033791" y="2215793"/>
            <a:ext cx="1044360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Menu-Driven C++ Application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33486" y="2505606"/>
            <a:ext cx="10443604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Design a structured, menu-driven C++ application for intuitive number system conversion accessible to users with minimal programming background.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475" y="2885421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5EEFB"/>
          </a:solidFill>
          <a:ln w="6350">
            <a:solidFill>
              <a:srgbClr val="B6C7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4605" y="2927936"/>
            <a:ext cx="212620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86617" y="2880002"/>
            <a:ext cx="1044360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Multi-Base Conversion Support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33486" y="3156590"/>
            <a:ext cx="10443604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Support bidirectional conversions between </a:t>
            </a:r>
            <a:r>
              <a:rPr lang="en-US" sz="1100" b="1" dirty="0">
                <a:solidFill>
                  <a:srgbClr val="192A47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Binary, Octal, Decimal, and Hexadecimal</a:t>
            </a: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number systems covering all 12 conversion paths.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61475" y="3555048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5EEFB"/>
          </a:solidFill>
          <a:ln w="6350">
            <a:solidFill>
              <a:srgbClr val="B6C7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4605" y="3597563"/>
            <a:ext cx="212620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086616" y="3597563"/>
            <a:ext cx="1044360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Cross-Base Arithmetic Operations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1086616" y="3910282"/>
            <a:ext cx="10443604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Implement addition, subtraction, and multiplication across different number bases with correct result formatting in the target base.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61475" y="4224675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5EEFB"/>
          </a:solidFill>
          <a:ln w="6350">
            <a:solidFill>
              <a:srgbClr val="B6C7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4605" y="4267190"/>
            <a:ext cx="212620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4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1033791" y="4273919"/>
            <a:ext cx="1044360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Input Validation &amp; Error Handling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1033486" y="4618971"/>
            <a:ext cx="10443604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Validate all user inputs against permissible digit sets for each base and handle invalid entries gracefully with descriptive error messages.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61475" y="4894303"/>
            <a:ext cx="318881" cy="318889"/>
          </a:xfrm>
          <a:prstGeom prst="roundRect">
            <a:avLst>
              <a:gd name="adj" fmla="val 18672"/>
            </a:avLst>
          </a:prstGeom>
          <a:solidFill>
            <a:srgbClr val="E5EEFB"/>
          </a:solidFill>
          <a:ln w="6350">
            <a:solidFill>
              <a:srgbClr val="B6C7E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4605" y="4936818"/>
            <a:ext cx="212620" cy="23385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5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1033791" y="4933725"/>
            <a:ext cx="1044360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User-Friendly Console Interface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1033486" y="5193943"/>
            <a:ext cx="10443604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Provide a clean, simple, and readable console interface that guides the user step-by-step through all operations without confusion.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2DF3E69-6DD1-3AEC-4CF3-696AD52CDD58}"/>
                  </a:ext>
                </a:extLst>
              </p14:cNvPr>
              <p14:cNvContentPartPr/>
              <p14:nvPr/>
            </p14:nvContentPartPr>
            <p14:xfrm>
              <a:off x="11177912" y="6614030"/>
              <a:ext cx="875880" cy="396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2DF3E69-6DD1-3AEC-4CF3-696AD52CDD5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114912" y="6551390"/>
                <a:ext cx="100152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E0523DA-0157-B5A1-CE42-526EC75C240C}"/>
                  </a:ext>
                </a:extLst>
              </p14:cNvPr>
              <p14:cNvContentPartPr/>
              <p14:nvPr/>
            </p14:nvContentPartPr>
            <p14:xfrm>
              <a:off x="11112752" y="6699350"/>
              <a:ext cx="952560" cy="842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E0523DA-0157-B5A1-CE42-526EC75C240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49752" y="6636350"/>
                <a:ext cx="1078200" cy="20988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D4F5215E-1D66-6238-7D0F-BC1FF54667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1852" y="298287"/>
            <a:ext cx="2455660" cy="31806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6395"/>
            <a:ext cx="592420" cy="215305"/>
          </a:xfrm>
          <a:prstGeom prst="roundRect">
            <a:avLst>
              <a:gd name="adj" fmla="val 22123"/>
            </a:avLst>
          </a:prstGeom>
          <a:solidFill>
            <a:srgbClr val="D0E1FB"/>
          </a:solidFill>
          <a:ln/>
        </p:spPr>
      </p:sp>
      <p:sp>
        <p:nvSpPr>
          <p:cNvPr id="3" name="Text 1"/>
          <p:cNvSpPr/>
          <p:nvPr/>
        </p:nvSpPr>
        <p:spPr>
          <a:xfrm>
            <a:off x="746503" y="728861"/>
            <a:ext cx="103194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5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944166"/>
            <a:ext cx="10868745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Planned Modules / Functions — Overview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493441"/>
            <a:ext cx="10868745" cy="850602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550" y="1812429"/>
            <a:ext cx="212620" cy="2126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53806" y="1654175"/>
            <a:ext cx="1001568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Input &amp; Validation Module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353806" y="1912739"/>
            <a:ext cx="10015684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Accepts user input (number string + base), checks digit validity per base, and prompts re-entry on invalid input.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450306"/>
            <a:ext cx="10868745" cy="850602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550" y="2769295"/>
            <a:ext cx="212620" cy="21262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53806" y="2611041"/>
            <a:ext cx="1001568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Conversion Module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353806" y="2869605"/>
            <a:ext cx="10015684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Handles all base-to-base conversions: Binary </a:t>
            </a:r>
            <a:r>
              <a:rPr lang="en-US" sz="11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↔</a:t>
            </a: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Octal </a:t>
            </a:r>
            <a:r>
              <a:rPr lang="en-US" sz="11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↔</a:t>
            </a: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Decimal </a:t>
            </a:r>
            <a:r>
              <a:rPr lang="en-US" sz="11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↔</a:t>
            </a: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Hexadecimal using standard mathematical algorithms.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407172"/>
            <a:ext cx="10868745" cy="85060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4550" y="3726160"/>
            <a:ext cx="212620" cy="21262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53806" y="3567906"/>
            <a:ext cx="1001568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Arithmetic Module</a:t>
            </a:r>
            <a:endParaRPr lang="en-US" sz="1350" dirty="0"/>
          </a:p>
        </p:txBody>
      </p:sp>
      <p:sp>
        <p:nvSpPr>
          <p:cNvPr id="16" name="Text 8"/>
          <p:cNvSpPr/>
          <p:nvPr/>
        </p:nvSpPr>
        <p:spPr>
          <a:xfrm>
            <a:off x="1353806" y="3826470"/>
            <a:ext cx="10015684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Performs addition, subtraction, and multiplication by routing operands through decimal intermediary and converting results back to the target base.</a:t>
            </a:r>
            <a:endParaRPr lang="en-US" sz="11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4364038"/>
            <a:ext cx="10868745" cy="850602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4550" y="4683026"/>
            <a:ext cx="212620" cy="212626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353806" y="4524772"/>
            <a:ext cx="1001568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Display / Output Module</a:t>
            </a:r>
            <a:endParaRPr lang="en-US" sz="1350" dirty="0"/>
          </a:p>
        </p:txBody>
      </p:sp>
      <p:sp>
        <p:nvSpPr>
          <p:cNvPr id="20" name="Text 10"/>
          <p:cNvSpPr/>
          <p:nvPr/>
        </p:nvSpPr>
        <p:spPr>
          <a:xfrm>
            <a:off x="1353806" y="4783336"/>
            <a:ext cx="10015684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Formats and prints conversion results and arithmetic outputs clearly on the console, including the source and target base labels.</a:t>
            </a:r>
            <a:endParaRPr lang="en-US" sz="11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20903"/>
            <a:ext cx="10868745" cy="850602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4550" y="5639891"/>
            <a:ext cx="212620" cy="212626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1353806" y="5481638"/>
            <a:ext cx="10015684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Menu-Driven Control Module</a:t>
            </a:r>
            <a:endParaRPr lang="en-US" sz="1350" dirty="0"/>
          </a:p>
        </p:txBody>
      </p:sp>
      <p:sp>
        <p:nvSpPr>
          <p:cNvPr id="24" name="Text 12"/>
          <p:cNvSpPr/>
          <p:nvPr/>
        </p:nvSpPr>
        <p:spPr>
          <a:xfrm>
            <a:off x="1353806" y="5740202"/>
            <a:ext cx="10015684" cy="1364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Acts as the program's main controller — presents options, reads user choices via switch-case, and routes execution to the appropriate module.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58BB752-45F5-8BA5-BCE3-0FBFE87CB7D0}"/>
                  </a:ext>
                </a:extLst>
              </p14:cNvPr>
              <p14:cNvContentPartPr/>
              <p14:nvPr/>
            </p14:nvContentPartPr>
            <p14:xfrm>
              <a:off x="11140472" y="6623750"/>
              <a:ext cx="900360" cy="20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58BB752-45F5-8BA5-BCE3-0FBFE87CB7D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077832" y="6561110"/>
                <a:ext cx="10260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17019C8-E1BC-AD1F-68E4-513DCFFCD785}"/>
                  </a:ext>
                </a:extLst>
              </p14:cNvPr>
              <p14:cNvContentPartPr/>
              <p14:nvPr/>
            </p14:nvContentPartPr>
            <p14:xfrm>
              <a:off x="11159192" y="6670910"/>
              <a:ext cx="877320" cy="471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17019C8-E1BC-AD1F-68E4-513DCFFCD78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096192" y="6608270"/>
                <a:ext cx="100296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2230DE8-0802-33D7-233B-2203E6718F04}"/>
                  </a:ext>
                </a:extLst>
              </p14:cNvPr>
              <p14:cNvContentPartPr/>
              <p14:nvPr/>
            </p14:nvContentPartPr>
            <p14:xfrm>
              <a:off x="11868392" y="6734990"/>
              <a:ext cx="182160" cy="2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2230DE8-0802-33D7-233B-2203E6718F0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1805392" y="6671990"/>
                <a:ext cx="307800" cy="127800"/>
              </a:xfrm>
              <a:prstGeom prst="rect">
                <a:avLst/>
              </a:prstGeom>
            </p:spPr>
          </p:pic>
        </mc:Fallback>
      </mc:AlternateContent>
      <p:pic>
        <p:nvPicPr>
          <p:cNvPr id="29" name="Picture 28">
            <a:extLst>
              <a:ext uri="{FF2B5EF4-FFF2-40B4-BE49-F238E27FC236}">
                <a16:creationId xmlns:a16="http://schemas.microsoft.com/office/drawing/2014/main" id="{903042FA-2365-2AE6-A709-FF07F037950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571852" y="298287"/>
            <a:ext cx="2455660" cy="3180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737921" y="787895"/>
            <a:ext cx="592420" cy="215305"/>
          </a:xfrm>
          <a:prstGeom prst="roundRect">
            <a:avLst>
              <a:gd name="adj" fmla="val 22123"/>
            </a:avLst>
          </a:prstGeom>
          <a:solidFill>
            <a:srgbClr val="D0E1FB"/>
          </a:solidFill>
          <a:ln/>
        </p:spPr>
      </p:sp>
      <p:sp>
        <p:nvSpPr>
          <p:cNvPr id="4" name="Text 1"/>
          <p:cNvSpPr/>
          <p:nvPr/>
        </p:nvSpPr>
        <p:spPr>
          <a:xfrm>
            <a:off x="814367" y="830360"/>
            <a:ext cx="103194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6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90912" y="1204653"/>
            <a:ext cx="10868745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Module Details: Conversion Functions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90912" y="1934963"/>
            <a:ext cx="5261439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Core Conversion Functions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90912" y="2249387"/>
            <a:ext cx="2577539" cy="1168301"/>
          </a:xfrm>
          <a:prstGeom prst="roundRect">
            <a:avLst>
              <a:gd name="adj" fmla="val 5096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6C7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1642" y="2410121"/>
            <a:ext cx="2256079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binaryToDecimal()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51642" y="2711250"/>
            <a:ext cx="2256079" cy="5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Traverses binary string right-to-left, multiplying each bit by its positional power of 2 and summing the products.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74712" y="2249387"/>
            <a:ext cx="2577639" cy="1168301"/>
          </a:xfrm>
          <a:prstGeom prst="roundRect">
            <a:avLst>
              <a:gd name="adj" fmla="val 5096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6C7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35442" y="2410121"/>
            <a:ext cx="2256178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decimalToBinary()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3535442" y="2711250"/>
            <a:ext cx="2256178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Repeatedly divides decimal value by 2, recording remainders in reverse to form the binary string.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90912" y="3523951"/>
            <a:ext cx="2577539" cy="1168301"/>
          </a:xfrm>
          <a:prstGeom prst="roundRect">
            <a:avLst>
              <a:gd name="adj" fmla="val 5096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6C7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1642" y="3684685"/>
            <a:ext cx="2256079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decimalToOctal()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51642" y="3985814"/>
            <a:ext cx="2256079" cy="5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Divides by 8 iteratively, collecting remainders (0–7) to build the octal representation from least-significant digit upward.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74712" y="3523951"/>
            <a:ext cx="2577639" cy="1168301"/>
          </a:xfrm>
          <a:prstGeom prst="roundRect">
            <a:avLst>
              <a:gd name="adj" fmla="val 5096"/>
            </a:avLst>
          </a:prstGeom>
          <a:solidFill>
            <a:srgbClr val="FAFAFA">
              <a:alpha val="95000"/>
            </a:srgbClr>
          </a:solidFill>
          <a:ln w="19050">
            <a:solidFill>
              <a:srgbClr val="B6C7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35442" y="3684685"/>
            <a:ext cx="2256178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highlight>
                  <a:srgbClr val="EDED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decimalToHex()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3535442" y="3985814"/>
            <a:ext cx="2256178" cy="5457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Divides by 16, mapping remainders 10–15 to characters A–F and assembling the hex string in reverse order.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45773" y="2020100"/>
            <a:ext cx="5261439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General Logic Flow</a:t>
            </a:r>
            <a:endParaRPr lang="en-US" sz="13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273" y="2249387"/>
            <a:ext cx="3946029" cy="2156321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82622" y="3267215"/>
            <a:ext cx="914326" cy="109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Parse Input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9791451" y="3198449"/>
            <a:ext cx="914326" cy="218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Convert to Decimal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8663575" y="3202941"/>
            <a:ext cx="914326" cy="218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Convert to Target Base</a:t>
            </a:r>
            <a:endParaRPr lang="en-US" sz="7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84D120E-9FF3-3558-55F8-25710B59DAA0}"/>
                  </a:ext>
                </a:extLst>
              </p14:cNvPr>
              <p14:cNvContentPartPr/>
              <p14:nvPr/>
            </p14:nvContentPartPr>
            <p14:xfrm>
              <a:off x="11112752" y="6605030"/>
              <a:ext cx="1009800" cy="4788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84D120E-9FF3-3558-55F8-25710B59DAA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049752" y="6542030"/>
                <a:ext cx="1135440" cy="1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E9F255E7-2201-553B-8879-6AF1F321D98B}"/>
                  </a:ext>
                </a:extLst>
              </p14:cNvPr>
              <p14:cNvContentPartPr/>
              <p14:nvPr/>
            </p14:nvContentPartPr>
            <p14:xfrm>
              <a:off x="11159192" y="6717710"/>
              <a:ext cx="896040" cy="565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E9F255E7-2201-553B-8879-6AF1F321D98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96552" y="6655070"/>
                <a:ext cx="1021680" cy="182160"/>
              </a:xfrm>
              <a:prstGeom prst="rect">
                <a:avLst/>
              </a:prstGeom>
            </p:spPr>
          </p:pic>
        </mc:Fallback>
      </mc:AlternateContent>
      <p:pic>
        <p:nvPicPr>
          <p:cNvPr id="28" name="Picture 27">
            <a:extLst>
              <a:ext uri="{FF2B5EF4-FFF2-40B4-BE49-F238E27FC236}">
                <a16:creationId xmlns:a16="http://schemas.microsoft.com/office/drawing/2014/main" id="{E2EF96B3-E582-EB1A-EA69-0A5AE032B1C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1852" y="298287"/>
            <a:ext cx="2455660" cy="3180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19621"/>
            <a:ext cx="749976" cy="272752"/>
          </a:xfrm>
          <a:prstGeom prst="roundRect">
            <a:avLst>
              <a:gd name="adj" fmla="val 22121"/>
            </a:avLst>
          </a:prstGeom>
          <a:solidFill>
            <a:srgbClr val="D0E1FB"/>
          </a:solidFill>
          <a:ln/>
        </p:spPr>
      </p:sp>
      <p:sp>
        <p:nvSpPr>
          <p:cNvPr id="3" name="Text 1"/>
          <p:cNvSpPr/>
          <p:nvPr/>
        </p:nvSpPr>
        <p:spPr>
          <a:xfrm>
            <a:off x="769125" y="673398"/>
            <a:ext cx="1144261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61475" y="960537"/>
            <a:ext cx="10868745" cy="4938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50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Module Details: Arithmetic Functions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1710234"/>
            <a:ext cx="10868745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Arithmetic across number bases is achieved by a </a:t>
            </a:r>
            <a:r>
              <a:rPr lang="en-US" sz="1400" b="1" dirty="0">
                <a:solidFill>
                  <a:srgbClr val="192A47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three-phase approach</a:t>
            </a: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: convert both operands to decimal, perform the standard operation, then convert the result back to the desired output base.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87290"/>
            <a:ext cx="5434373" cy="7182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0957" y="3176091"/>
            <a:ext cx="5075408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Accept Operands &amp; Base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0957" y="3525242"/>
            <a:ext cx="5075408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User provides two numbers in their respective source bases and selects the desired output base.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287290"/>
            <a:ext cx="5434373" cy="71824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75330" y="3176091"/>
            <a:ext cx="5075408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Convert to Decimal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6275330" y="3525242"/>
            <a:ext cx="5075408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Both operands are converted to decimal integers using the Conversion Module before any calculation.</a:t>
            </a:r>
            <a:endParaRPr lang="en-US" sz="1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089896"/>
            <a:ext cx="5434373" cy="71824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0957" y="4978698"/>
            <a:ext cx="5075408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Compute Result</a:t>
            </a:r>
            <a:endParaRPr lang="en-US" sz="1750" dirty="0"/>
          </a:p>
        </p:txBody>
      </p:sp>
      <p:sp>
        <p:nvSpPr>
          <p:cNvPr id="14" name="Text 9"/>
          <p:cNvSpPr/>
          <p:nvPr/>
        </p:nvSpPr>
        <p:spPr>
          <a:xfrm>
            <a:off x="840957" y="5327848"/>
            <a:ext cx="5075408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Standard C++ arithmetic (+, −, ×) is applied to the two decimal values, yielding a decimal result.</a:t>
            </a:r>
            <a:endParaRPr lang="en-US" sz="14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089896"/>
            <a:ext cx="5434373" cy="71824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275330" y="4978698"/>
            <a:ext cx="5075408" cy="2468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Convert to Target Base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6275330" y="5327848"/>
            <a:ext cx="5075408" cy="385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4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decimal result is passed to the appropriate conversion function and displayed in the target base.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61475" y="6084391"/>
            <a:ext cx="11478330" cy="153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Supported operations: </a:t>
            </a:r>
            <a:r>
              <a:rPr lang="en-US" sz="1100" b="1" dirty="0">
                <a:solidFill>
                  <a:srgbClr val="192A47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Addition</a:t>
            </a: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· </a:t>
            </a:r>
            <a:r>
              <a:rPr lang="en-US" sz="1100" b="1" dirty="0">
                <a:solidFill>
                  <a:srgbClr val="192A47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Subtraction</a:t>
            </a: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· </a:t>
            </a:r>
            <a:r>
              <a:rPr lang="en-US" sz="1100" b="1" dirty="0">
                <a:solidFill>
                  <a:srgbClr val="192A47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Multiplication</a:t>
            </a: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each accessible from the Arithmetic sub-menu of the main menu.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1571A56-6527-6A5D-EF3E-09CCE7057DE3}"/>
                  </a:ext>
                </a:extLst>
              </p14:cNvPr>
              <p14:cNvContentPartPr/>
              <p14:nvPr/>
            </p14:nvContentPartPr>
            <p14:xfrm>
              <a:off x="11121752" y="6615110"/>
              <a:ext cx="924120" cy="565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1571A56-6527-6A5D-EF3E-09CCE7057DE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058752" y="6552110"/>
                <a:ext cx="1049760" cy="1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F3BA031-E041-2944-C61F-50C557739CD1}"/>
                  </a:ext>
                </a:extLst>
              </p14:cNvPr>
              <p14:cNvContentPartPr/>
              <p14:nvPr/>
            </p14:nvContentPartPr>
            <p14:xfrm>
              <a:off x="11177912" y="6652550"/>
              <a:ext cx="793080" cy="561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F3BA031-E041-2944-C61F-50C557739CD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1114912" y="6589550"/>
                <a:ext cx="91872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F26359A3-A49F-1AFB-C658-8CC4877D509E}"/>
                  </a:ext>
                </a:extLst>
              </p14:cNvPr>
              <p14:cNvContentPartPr/>
              <p14:nvPr/>
            </p14:nvContentPartPr>
            <p14:xfrm>
              <a:off x="11578952" y="6745790"/>
              <a:ext cx="420120" cy="18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F26359A3-A49F-1AFB-C658-8CC4877D509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516312" y="6683150"/>
                <a:ext cx="545760" cy="144360"/>
              </a:xfrm>
              <a:prstGeom prst="rect">
                <a:avLst/>
              </a:prstGeom>
            </p:spPr>
          </p:pic>
        </mc:Fallback>
      </mc:AlternateContent>
      <p:pic>
        <p:nvPicPr>
          <p:cNvPr id="21" name="Picture 20">
            <a:extLst>
              <a:ext uri="{FF2B5EF4-FFF2-40B4-BE49-F238E27FC236}">
                <a16:creationId xmlns:a16="http://schemas.microsoft.com/office/drawing/2014/main" id="{6BF6166A-B5B3-C6FF-B7DB-100B8BA7E6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71852" y="298287"/>
            <a:ext cx="2455660" cy="3180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72914"/>
            <a:ext cx="789563" cy="287139"/>
          </a:xfrm>
          <a:prstGeom prst="roundRect">
            <a:avLst>
              <a:gd name="adj" fmla="val 22118"/>
            </a:avLst>
          </a:prstGeom>
          <a:solidFill>
            <a:srgbClr val="D0E1FB"/>
          </a:solidFill>
          <a:ln/>
        </p:spPr>
      </p:sp>
      <p:sp>
        <p:nvSpPr>
          <p:cNvPr id="3" name="Text 1"/>
          <p:cNvSpPr/>
          <p:nvPr/>
        </p:nvSpPr>
        <p:spPr>
          <a:xfrm>
            <a:off x="774879" y="829568"/>
            <a:ext cx="117233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8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135658"/>
            <a:ext cx="10868745" cy="519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70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Inputs &amp; Expected Outputs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731070"/>
            <a:ext cx="10868745" cy="259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8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I/O Structure</a:t>
            </a:r>
            <a:endParaRPr lang="en-US" sz="18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74391"/>
          <a:ext cx="10868745" cy="2715946"/>
        </p:xfrm>
        <a:graphic>
          <a:graphicData uri="http://schemas.openxmlformats.org/drawingml/2006/table">
            <a:tbl>
              <a:tblPr/>
              <a:tblGrid>
                <a:gridCol w="3260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05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AFAFA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Input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4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AFAFA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Source Base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D4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4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AFAFA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Target Base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D4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4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FAFAFA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Output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D47A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47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1010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Binary (Base 2)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Decimal (Base 10)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10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B6C7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255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Decimal (Base 10)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Hexadecimal (Base 16)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FF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17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Octal (Base 8)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Binary (Base 2)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001111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1010 + 0101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Binary (Arithmetic)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Binary (Base 2)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1111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5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1A + 05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Hexadecimal (Arithmetic)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Decimal (Base 10)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50" b="1" dirty="0">
                          <a:solidFill>
                            <a:srgbClr val="192A47"/>
                          </a:solidFill>
                          <a:latin typeface="Arimo" pitchFamily="34" charset="0"/>
                          <a:ea typeface="Arimo" pitchFamily="34" charset="-122"/>
                          <a:cs typeface="Arimo" pitchFamily="34" charset="-120"/>
                        </a:rPr>
                        <a:t>31</a:t>
                      </a:r>
                      <a:endParaRPr lang="en-US" sz="1450" dirty="0">
                        <a:latin typeface="Arimo" charset="0"/>
                        <a:ea typeface="Arimo" charset="0"/>
                        <a:cs typeface="Arimo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61475" y="5215731"/>
            <a:ext cx="10868745" cy="869255"/>
          </a:xfrm>
          <a:prstGeom prst="roundRect">
            <a:avLst>
              <a:gd name="adj" fmla="val 9133"/>
            </a:avLst>
          </a:prstGeom>
          <a:solidFill>
            <a:srgbClr val="D0E1F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5451971"/>
            <a:ext cx="236234" cy="189012"/>
          </a:xfrm>
          <a:prstGeom prst="rect">
            <a:avLst/>
          </a:prstGeom>
        </p:spPr>
      </p:pic>
      <p:sp>
        <p:nvSpPr>
          <p:cNvPr id="6" name="Text 5"/>
          <p:cNvSpPr/>
          <p:nvPr/>
        </p:nvSpPr>
        <p:spPr>
          <a:xfrm>
            <a:off x="1275723" y="5451971"/>
            <a:ext cx="10065490" cy="41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For arithmetic operations, the user provides the operation type (Add / Subtract / Multiply), both operands in their source base, and the desired output base.</a:t>
            </a:r>
            <a:endParaRPr lang="en-US" sz="145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4693094-190E-9987-A724-5A2CBE343E04}"/>
                  </a:ext>
                </a:extLst>
              </p14:cNvPr>
              <p14:cNvContentPartPr/>
              <p14:nvPr/>
            </p14:nvContentPartPr>
            <p14:xfrm>
              <a:off x="11140472" y="6596390"/>
              <a:ext cx="922680" cy="84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4693094-190E-9987-A724-5A2CBE343E0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77832" y="6533750"/>
                <a:ext cx="1048320" cy="20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C7EEFDB-7E75-C60E-F7D2-A7C753AA2675}"/>
                  </a:ext>
                </a:extLst>
              </p14:cNvPr>
              <p14:cNvContentPartPr/>
              <p14:nvPr/>
            </p14:nvContentPartPr>
            <p14:xfrm>
              <a:off x="11131112" y="6708350"/>
              <a:ext cx="886680" cy="28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C7EEFDB-7E75-C60E-F7D2-A7C753AA267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68472" y="6645710"/>
                <a:ext cx="1012320" cy="154080"/>
              </a:xfrm>
              <a:prstGeom prst="rect">
                <a:avLst/>
              </a:prstGeom>
            </p:spPr>
          </p:pic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E9A7AB16-D6AF-95B2-6EC1-59A8F01365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1852" y="298287"/>
            <a:ext cx="2455660" cy="3180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1883670" y="725852"/>
            <a:ext cx="592420" cy="215305"/>
          </a:xfrm>
          <a:prstGeom prst="roundRect">
            <a:avLst>
              <a:gd name="adj" fmla="val 22123"/>
            </a:avLst>
          </a:prstGeom>
          <a:solidFill>
            <a:srgbClr val="D0E1FB"/>
          </a:solidFill>
          <a:ln/>
        </p:spPr>
      </p:sp>
      <p:sp>
        <p:nvSpPr>
          <p:cNvPr id="4" name="Text 1"/>
          <p:cNvSpPr/>
          <p:nvPr/>
        </p:nvSpPr>
        <p:spPr>
          <a:xfrm>
            <a:off x="1968699" y="768318"/>
            <a:ext cx="103194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SLIDE 9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883670" y="983623"/>
            <a:ext cx="6296860" cy="389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Algorithm</a:t>
            </a:r>
            <a:endParaRPr lang="en-US" sz="2750" dirty="0"/>
          </a:p>
        </p:txBody>
      </p:sp>
      <p:sp>
        <p:nvSpPr>
          <p:cNvPr id="7" name="Text 4"/>
          <p:cNvSpPr/>
          <p:nvPr/>
        </p:nvSpPr>
        <p:spPr>
          <a:xfrm>
            <a:off x="1883670" y="1788882"/>
            <a:ext cx="283461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883670" y="1989403"/>
            <a:ext cx="3095250" cy="1905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9" name="Text 6"/>
          <p:cNvSpPr/>
          <p:nvPr/>
        </p:nvSpPr>
        <p:spPr>
          <a:xfrm>
            <a:off x="1883670" y="2098345"/>
            <a:ext cx="3095250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Start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883670" y="2356910"/>
            <a:ext cx="3095250" cy="27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Initialize the program and display a welcome banner with project and team information.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212981" y="1788882"/>
            <a:ext cx="283461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212981" y="1989403"/>
            <a:ext cx="3095349" cy="1905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3" name="Text 10"/>
          <p:cNvSpPr/>
          <p:nvPr/>
        </p:nvSpPr>
        <p:spPr>
          <a:xfrm>
            <a:off x="7212981" y="2098345"/>
            <a:ext cx="3095349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Display Main Menu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212981" y="2356910"/>
            <a:ext cx="309534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Show options: (1) Conversion, (2) Arithmetic Operations, (3) Exit. Read user choice via switch-case.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883670" y="2978713"/>
            <a:ext cx="283461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883670" y="3179235"/>
            <a:ext cx="3095250" cy="1905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7" name="Text 14"/>
          <p:cNvSpPr/>
          <p:nvPr/>
        </p:nvSpPr>
        <p:spPr>
          <a:xfrm>
            <a:off x="1883670" y="3288177"/>
            <a:ext cx="3095250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Accept Number &amp; Base(s)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1883670" y="3546741"/>
            <a:ext cx="3095250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Prompt user to enter the number string, source base, and target base (or operation type for arithmetic).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212981" y="2978713"/>
            <a:ext cx="283461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212981" y="3179235"/>
            <a:ext cx="3095349" cy="1905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1" name="Text 18"/>
          <p:cNvSpPr/>
          <p:nvPr/>
        </p:nvSpPr>
        <p:spPr>
          <a:xfrm>
            <a:off x="7212981" y="3288177"/>
            <a:ext cx="3095349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Validate Input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212981" y="3546741"/>
            <a:ext cx="3095349" cy="40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Check each digit against the permissible character set for the given base. On failure, display error and re-prompt.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883670" y="4168545"/>
            <a:ext cx="283461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1883670" y="4369066"/>
            <a:ext cx="3095250" cy="1905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5" name="Text 22"/>
          <p:cNvSpPr/>
          <p:nvPr/>
        </p:nvSpPr>
        <p:spPr>
          <a:xfrm>
            <a:off x="1883670" y="4478008"/>
            <a:ext cx="3095250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Perform Conversion / Arithmetic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1883670" y="4736572"/>
            <a:ext cx="3095250" cy="27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Call the appropriate module function(s). For arithmetic, convert → compute → convert back.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212981" y="4168545"/>
            <a:ext cx="283461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212981" y="4369066"/>
            <a:ext cx="3095349" cy="1905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29" name="Text 26"/>
          <p:cNvSpPr/>
          <p:nvPr/>
        </p:nvSpPr>
        <p:spPr>
          <a:xfrm>
            <a:off x="7212981" y="4478008"/>
            <a:ext cx="3095349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Display Result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212981" y="4736572"/>
            <a:ext cx="3095349" cy="27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Print the input, the operation performed, and the final result clearly labeled with its base.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883670" y="5132058"/>
            <a:ext cx="283461" cy="155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Noto Sans Light" pitchFamily="34" charset="0"/>
                <a:ea typeface="Noto Sans Light" pitchFamily="34" charset="-122"/>
                <a:cs typeface="Noto Sans Light" pitchFamily="34" charset="-120"/>
              </a:rPr>
              <a:t>07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883670" y="5332579"/>
            <a:ext cx="6296860" cy="1905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33" name="Text 30"/>
          <p:cNvSpPr/>
          <p:nvPr/>
        </p:nvSpPr>
        <p:spPr>
          <a:xfrm>
            <a:off x="1883670" y="5441521"/>
            <a:ext cx="6296860" cy="194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dirty="0">
                <a:solidFill>
                  <a:srgbClr val="192A47"/>
                </a:solidFill>
                <a:latin typeface="Noto Sans ExtraBold" pitchFamily="34" charset="0"/>
                <a:ea typeface="Noto Sans ExtraBold" pitchFamily="34" charset="-122"/>
                <a:cs typeface="Noto Sans ExtraBold" pitchFamily="34" charset="-120"/>
              </a:rPr>
              <a:t>Repeat or Exit</a:t>
            </a:r>
            <a:endParaRPr lang="en-US" sz="1350" dirty="0"/>
          </a:p>
        </p:txBody>
      </p:sp>
      <p:sp>
        <p:nvSpPr>
          <p:cNvPr id="34" name="Text 31"/>
          <p:cNvSpPr/>
          <p:nvPr/>
        </p:nvSpPr>
        <p:spPr>
          <a:xfrm>
            <a:off x="1883670" y="5700085"/>
            <a:ext cx="6296860" cy="27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1100" dirty="0">
                <a:solidFill>
                  <a:srgbClr val="192A47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Ask user if they wish to perform another operation. If yes, return to Step 2; otherwise terminate program.</a:t>
            </a:r>
            <a:endParaRPr lang="en-US" sz="11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1DBBA79D-01B8-A39E-7B88-EF5DC4AE9154}"/>
                  </a:ext>
                </a:extLst>
              </p14:cNvPr>
              <p14:cNvContentPartPr/>
              <p14:nvPr/>
            </p14:nvContentPartPr>
            <p14:xfrm>
              <a:off x="11140472" y="6633830"/>
              <a:ext cx="905400" cy="190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1DBBA79D-01B8-A39E-7B88-EF5DC4AE91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77472" y="6570830"/>
                <a:ext cx="103104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DAE1648-4A89-5598-B4FF-0D7B75FC0333}"/>
                  </a:ext>
                </a:extLst>
              </p14:cNvPr>
              <p14:cNvContentPartPr/>
              <p14:nvPr/>
            </p14:nvContentPartPr>
            <p14:xfrm>
              <a:off x="11131112" y="6699350"/>
              <a:ext cx="914760" cy="9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DAE1648-4A89-5598-B4FF-0D7B75FC033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68472" y="6636350"/>
                <a:ext cx="1040400" cy="135360"/>
              </a:xfrm>
              <a:prstGeom prst="rect">
                <a:avLst/>
              </a:prstGeom>
            </p:spPr>
          </p:pic>
        </mc:Fallback>
      </mc:AlternateContent>
      <p:pic>
        <p:nvPicPr>
          <p:cNvPr id="37" name="Picture 36">
            <a:extLst>
              <a:ext uri="{FF2B5EF4-FFF2-40B4-BE49-F238E27FC236}">
                <a16:creationId xmlns:a16="http://schemas.microsoft.com/office/drawing/2014/main" id="{1037E8FA-E7EC-56CE-7421-199213F88B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71852" y="298287"/>
            <a:ext cx="2455660" cy="3180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E6E7FFC-FEC9-7A33-A3AC-CDD36B7CC3F0}"/>
                  </a:ext>
                </a:extLst>
              </p14:cNvPr>
              <p14:cNvContentPartPr/>
              <p14:nvPr/>
            </p14:nvContentPartPr>
            <p14:xfrm>
              <a:off x="11159192" y="6643190"/>
              <a:ext cx="886680" cy="378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E6E7FFC-FEC9-7A33-A3AC-CDD36B7CC3F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96192" y="6580190"/>
                <a:ext cx="101232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836AA65-4A8B-61B4-DF42-ACB946437C7A}"/>
                  </a:ext>
                </a:extLst>
              </p14:cNvPr>
              <p14:cNvContentPartPr/>
              <p14:nvPr/>
            </p14:nvContentPartPr>
            <p14:xfrm>
              <a:off x="11149832" y="6727070"/>
              <a:ext cx="858960" cy="471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836AA65-4A8B-61B4-DF42-ACB946437C7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86832" y="6664430"/>
                <a:ext cx="984600" cy="1728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AB7B987F-CC7D-203E-E61F-045817FFEE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5666" y="508777"/>
            <a:ext cx="8760667" cy="5840445"/>
          </a:xfrm>
          <a:prstGeom prst="rect">
            <a:avLst/>
          </a:prstGeom>
          <a:ln w="190500" cap="sq">
            <a:solidFill>
              <a:schemeClr val="bg1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34BD90-B805-FAAC-5B1E-A48B47E40E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1852" y="93101"/>
            <a:ext cx="2455660" cy="3180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E4649B9-229B-DAB0-F0EA-AFF458DF9F7E}"/>
                  </a:ext>
                </a:extLst>
              </p14:cNvPr>
              <p14:cNvContentPartPr/>
              <p14:nvPr/>
            </p14:nvContentPartPr>
            <p14:xfrm>
              <a:off x="11810432" y="6613310"/>
              <a:ext cx="235440" cy="48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E4649B9-229B-DAB0-F0EA-AFF458DF9F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747432" y="6550670"/>
                <a:ext cx="361080" cy="17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3018B5D-5CDF-3245-4DAB-29A9A602129A}"/>
                  </a:ext>
                </a:extLst>
              </p14:cNvPr>
              <p14:cNvContentPartPr/>
              <p14:nvPr/>
            </p14:nvContentPartPr>
            <p14:xfrm>
              <a:off x="11131112" y="6643190"/>
              <a:ext cx="68148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3018B5D-5CDF-3245-4DAB-29A9A602129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68472" y="6580190"/>
                <a:ext cx="807120" cy="12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D24A0DBC-185E-1838-7C7D-047F8899A2DE}"/>
              </a:ext>
            </a:extLst>
          </p:cNvPr>
          <p:cNvGrpSpPr/>
          <p:nvPr/>
        </p:nvGrpSpPr>
        <p:grpSpPr>
          <a:xfrm>
            <a:off x="11149832" y="6734630"/>
            <a:ext cx="915120" cy="35640"/>
            <a:chOff x="11149832" y="6734630"/>
            <a:chExt cx="915120" cy="3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8517749-FDF8-4842-7FD3-D97729267A5E}"/>
                    </a:ext>
                  </a:extLst>
                </p14:cNvPr>
                <p14:cNvContentPartPr/>
                <p14:nvPr/>
              </p14:nvContentPartPr>
              <p14:xfrm>
                <a:off x="11149832" y="6736430"/>
                <a:ext cx="894240" cy="19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8517749-FDF8-4842-7FD3-D97729267A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87192" y="6673790"/>
                  <a:ext cx="10198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6715C97-C712-5044-3BD8-DEC4E0A9995C}"/>
                    </a:ext>
                  </a:extLst>
                </p14:cNvPr>
                <p14:cNvContentPartPr/>
                <p14:nvPr/>
              </p14:nvContentPartPr>
              <p14:xfrm>
                <a:off x="11777312" y="6734630"/>
                <a:ext cx="287640" cy="35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6715C97-C712-5044-3BD8-DEC4E0A9995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714312" y="6671990"/>
                  <a:ext cx="413280" cy="1612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9518EC5-E222-2985-9ACD-6EADB8F7280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1852" y="83770"/>
            <a:ext cx="2455660" cy="3180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0B1728-00BE-825A-D052-995F319C0AB6}"/>
              </a:ext>
            </a:extLst>
          </p:cNvPr>
          <p:cNvSpPr txBox="1"/>
          <p:nvPr/>
        </p:nvSpPr>
        <p:spPr>
          <a:xfrm>
            <a:off x="4155232" y="3013501"/>
            <a:ext cx="3881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462653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1144</Words>
  <Application>Microsoft Office PowerPoint</Application>
  <PresentationFormat>Widescreen</PresentationFormat>
  <Paragraphs>143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Arimo Bold</vt:lpstr>
      <vt:lpstr>Noto Sans Light</vt:lpstr>
      <vt:lpstr>Times New Roman</vt:lpstr>
      <vt:lpstr>Arial</vt:lpstr>
      <vt:lpstr>Noto Sans ExtraBold</vt:lpstr>
      <vt:lpstr>Calibri</vt:lpstr>
      <vt:lpstr>Arimo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palani balarkananda</cp:lastModifiedBy>
  <cp:revision>11</cp:revision>
  <dcterms:created xsi:type="dcterms:W3CDTF">2026-08-27T04:30:11Z</dcterms:created>
  <dcterms:modified xsi:type="dcterms:W3CDTF">2026-08-31T08:18:30Z</dcterms:modified>
</cp:coreProperties>
</file>